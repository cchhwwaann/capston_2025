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5040313" cy="7199313"/>
  <p:notesSz cx="9926638" cy="67976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13">
          <p15:clr>
            <a:srgbClr val="A4A3A4"/>
          </p15:clr>
        </p15:guide>
        <p15:guide id="2" pos="3027">
          <p15:clr>
            <a:srgbClr val="A4A3A4"/>
          </p15:clr>
        </p15:guide>
        <p15:guide id="3" orient="horz" pos="317">
          <p15:clr>
            <a:srgbClr val="A4A3A4"/>
          </p15:clr>
        </p15:guide>
        <p15:guide id="4" pos="1588">
          <p15:clr>
            <a:srgbClr val="A4A3A4"/>
          </p15:clr>
        </p15:guide>
        <p15:guide id="5" orient="horz" pos="238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E8o+7OVBSPyYTZAX2ChXdDFNv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87C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85B2FA-1081-431A-89B0-88FB7C07F3A4}">
  <a:tblStyle styleId="{7E85B2FA-1081-431A-89B0-88FB7C07F3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3216" y="96"/>
      </p:cViewPr>
      <p:guideLst>
        <p:guide pos="113"/>
        <p:guide pos="3027"/>
        <p:guide orient="horz" pos="317"/>
        <p:guide pos="1588"/>
        <p:guide orient="horz"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54750" y="509825"/>
            <a:ext cx="6618075" cy="2549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0350" y="509588"/>
            <a:ext cx="17859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title"/>
          </p:nvPr>
        </p:nvSpPr>
        <p:spPr>
          <a:xfrm>
            <a:off x="346522" y="383299"/>
            <a:ext cx="4347270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346522" y="1916484"/>
            <a:ext cx="4347270" cy="456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ctrTitle"/>
          </p:nvPr>
        </p:nvSpPr>
        <p:spPr>
          <a:xfrm>
            <a:off x="378024" y="1178222"/>
            <a:ext cx="4284266" cy="2506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7"/>
              <a:buFont typeface="Calibri"/>
              <a:buNone/>
              <a:defRPr sz="330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subTitle" idx="1"/>
          </p:nvPr>
        </p:nvSpPr>
        <p:spPr>
          <a:xfrm>
            <a:off x="630039" y="3781306"/>
            <a:ext cx="3780235" cy="173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1pPr>
            <a:lvl2pPr lvl="1" algn="ctr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2pPr>
            <a:lvl3pPr lvl="2" algn="ctr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992"/>
              <a:buNone/>
              <a:defRPr sz="992"/>
            </a:lvl3pPr>
            <a:lvl4pPr lvl="3" algn="ctr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/>
            </a:lvl4pPr>
            <a:lvl5pPr lvl="4" algn="ctr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/>
            </a:lvl5pPr>
            <a:lvl6pPr lvl="5" algn="ctr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/>
            </a:lvl6pPr>
            <a:lvl7pPr lvl="6" algn="ctr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/>
            </a:lvl7pPr>
            <a:lvl8pPr lvl="7" algn="ctr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/>
            </a:lvl8pPr>
            <a:lvl9pPr lvl="8" algn="ctr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1413"/>
            <a:ext cx="5040313" cy="6856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>
            <a:spLocks noGrp="1"/>
          </p:cNvSpPr>
          <p:nvPr>
            <p:ph type="title"/>
          </p:nvPr>
        </p:nvSpPr>
        <p:spPr>
          <a:xfrm>
            <a:off x="343897" y="1794831"/>
            <a:ext cx="4347270" cy="299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7"/>
              <a:buFont typeface="Calibri"/>
              <a:buNone/>
              <a:defRPr sz="330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body" idx="1"/>
          </p:nvPr>
        </p:nvSpPr>
        <p:spPr>
          <a:xfrm>
            <a:off x="343897" y="4817876"/>
            <a:ext cx="4347270" cy="157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rgbClr val="888888"/>
              </a:buClr>
              <a:buSzPts val="1102"/>
              <a:buNone/>
              <a:defRPr sz="1102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rgbClr val="888888"/>
              </a:buClr>
              <a:buSzPts val="992"/>
              <a:buNone/>
              <a:defRPr sz="992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rgbClr val="888888"/>
              </a:buClr>
              <a:buSzPts val="882"/>
              <a:buNone/>
              <a:defRPr sz="882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rgbClr val="888888"/>
              </a:buClr>
              <a:buSzPts val="882"/>
              <a:buNone/>
              <a:defRPr sz="882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rgbClr val="888888"/>
              </a:buClr>
              <a:buSzPts val="882"/>
              <a:buNone/>
              <a:defRPr sz="882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rgbClr val="888888"/>
              </a:buClr>
              <a:buSzPts val="882"/>
              <a:buNone/>
              <a:defRPr sz="882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rgbClr val="888888"/>
              </a:buClr>
              <a:buSzPts val="882"/>
              <a:buNone/>
              <a:defRPr sz="882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rgbClr val="888888"/>
              </a:buClr>
              <a:buSzPts val="882"/>
              <a:buNone/>
              <a:defRPr sz="88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346522" y="383299"/>
            <a:ext cx="4347270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1"/>
          </p:nvPr>
        </p:nvSpPr>
        <p:spPr>
          <a:xfrm>
            <a:off x="346522" y="1916484"/>
            <a:ext cx="2142133" cy="456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2"/>
          </p:nvPr>
        </p:nvSpPr>
        <p:spPr>
          <a:xfrm>
            <a:off x="2551658" y="1916484"/>
            <a:ext cx="2142133" cy="456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347178" y="383299"/>
            <a:ext cx="4347270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347179" y="1764832"/>
            <a:ext cx="2132288" cy="86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 b="1"/>
            </a:lvl1pPr>
            <a:lvl2pPr marL="914400" lvl="1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 b="1"/>
            </a:lvl2pPr>
            <a:lvl3pPr marL="1371600" lvl="2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992"/>
              <a:buNone/>
              <a:defRPr sz="992" b="1"/>
            </a:lvl3pPr>
            <a:lvl4pPr marL="1828800" lvl="3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4pPr>
            <a:lvl5pPr marL="2286000" lvl="4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5pPr>
            <a:lvl6pPr marL="2743200" lvl="5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6pPr>
            <a:lvl7pPr marL="3200400" lvl="6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7pPr>
            <a:lvl8pPr marL="3657600" lvl="7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8pPr>
            <a:lvl9pPr marL="4114800" lvl="8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347179" y="2629749"/>
            <a:ext cx="2132288" cy="386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3"/>
          </p:nvPr>
        </p:nvSpPr>
        <p:spPr>
          <a:xfrm>
            <a:off x="2551658" y="1764832"/>
            <a:ext cx="2142790" cy="86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 b="1"/>
            </a:lvl1pPr>
            <a:lvl2pPr marL="914400" lvl="1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 b="1"/>
            </a:lvl2pPr>
            <a:lvl3pPr marL="1371600" lvl="2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992"/>
              <a:buNone/>
              <a:defRPr sz="992" b="1"/>
            </a:lvl3pPr>
            <a:lvl4pPr marL="1828800" lvl="3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4pPr>
            <a:lvl5pPr marL="2286000" lvl="4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5pPr>
            <a:lvl6pPr marL="2743200" lvl="5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6pPr>
            <a:lvl7pPr marL="3200400" lvl="6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7pPr>
            <a:lvl8pPr marL="3657600" lvl="7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8pPr>
            <a:lvl9pPr marL="4114800" lvl="8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 b="1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4"/>
          </p:nvPr>
        </p:nvSpPr>
        <p:spPr>
          <a:xfrm>
            <a:off x="2551658" y="2629749"/>
            <a:ext cx="2142790" cy="386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346522" y="383299"/>
            <a:ext cx="4347270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347178" y="479954"/>
            <a:ext cx="1625632" cy="167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4"/>
              <a:buFont typeface="Calibri"/>
              <a:buNone/>
              <a:defRPr sz="176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>
            <a:off x="2142790" y="1036570"/>
            <a:ext cx="2551658" cy="5116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614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Char char="•"/>
              <a:defRPr sz="1764"/>
            </a:lvl1pPr>
            <a:lvl2pPr marL="914400" lvl="1" indent="-32658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543"/>
              <a:buChar char="•"/>
              <a:defRPr sz="1543"/>
            </a:lvl2pPr>
            <a:lvl3pPr marL="1371600" lvl="2" indent="-31261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323"/>
              <a:buChar char="•"/>
              <a:defRPr sz="1323"/>
            </a:lvl3pPr>
            <a:lvl4pPr marL="1828800" lvl="3" indent="-298577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102"/>
              <a:buChar char="•"/>
              <a:defRPr sz="1102"/>
            </a:lvl4pPr>
            <a:lvl5pPr marL="2286000" lvl="4" indent="-298576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102"/>
              <a:buChar char="•"/>
              <a:defRPr sz="1102"/>
            </a:lvl5pPr>
            <a:lvl6pPr marL="2743200" lvl="5" indent="-298576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102"/>
              <a:buChar char="•"/>
              <a:defRPr sz="1102"/>
            </a:lvl6pPr>
            <a:lvl7pPr marL="3200400" lvl="6" indent="-298576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102"/>
              <a:buChar char="•"/>
              <a:defRPr sz="1102"/>
            </a:lvl7pPr>
            <a:lvl8pPr marL="3657600" lvl="7" indent="-298577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102"/>
              <a:buChar char="•"/>
              <a:defRPr sz="1102"/>
            </a:lvl8pPr>
            <a:lvl9pPr marL="4114800" lvl="8" indent="-298577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102"/>
              <a:buChar char="•"/>
              <a:defRPr sz="1102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347178" y="2159794"/>
            <a:ext cx="1625632" cy="400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/>
            </a:lvl1pPr>
            <a:lvl2pPr marL="914400" lvl="1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772"/>
              <a:buNone/>
              <a:defRPr sz="772"/>
            </a:lvl2pPr>
            <a:lvl3pPr marL="1371600" lvl="2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661"/>
              <a:buNone/>
              <a:defRPr sz="661"/>
            </a:lvl3pPr>
            <a:lvl4pPr marL="1828800" lvl="3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4pPr>
            <a:lvl5pPr marL="2286000" lvl="4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5pPr>
            <a:lvl6pPr marL="2743200" lvl="5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6pPr>
            <a:lvl7pPr marL="3200400" lvl="6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7pPr>
            <a:lvl8pPr marL="3657600" lvl="7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8pPr>
            <a:lvl9pPr marL="4114800" lvl="8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347178" y="479954"/>
            <a:ext cx="1625632" cy="167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4"/>
              <a:buFont typeface="Calibri"/>
              <a:buNone/>
              <a:defRPr sz="176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>
            <a:spLocks noGrp="1"/>
          </p:cNvSpPr>
          <p:nvPr>
            <p:ph type="pic" idx="2"/>
          </p:nvPr>
        </p:nvSpPr>
        <p:spPr>
          <a:xfrm>
            <a:off x="2142790" y="1036570"/>
            <a:ext cx="2551658" cy="5116178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7"/>
          <p:cNvSpPr txBox="1">
            <a:spLocks noGrp="1"/>
          </p:cNvSpPr>
          <p:nvPr>
            <p:ph type="body" idx="1"/>
          </p:nvPr>
        </p:nvSpPr>
        <p:spPr>
          <a:xfrm>
            <a:off x="347178" y="2159794"/>
            <a:ext cx="1625632" cy="400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882"/>
              <a:buNone/>
              <a:defRPr sz="882"/>
            </a:lvl1pPr>
            <a:lvl2pPr marL="914400" lvl="1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772"/>
              <a:buNone/>
              <a:defRPr sz="772"/>
            </a:lvl2pPr>
            <a:lvl3pPr marL="1371600" lvl="2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661"/>
              <a:buNone/>
              <a:defRPr sz="661"/>
            </a:lvl3pPr>
            <a:lvl4pPr marL="1828800" lvl="3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4pPr>
            <a:lvl5pPr marL="2286000" lvl="4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5pPr>
            <a:lvl6pPr marL="2743200" lvl="5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6pPr>
            <a:lvl7pPr marL="3200400" lvl="6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7pPr>
            <a:lvl8pPr marL="3657600" lvl="7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8pPr>
            <a:lvl9pPr marL="4114800" lvl="8" indent="-2286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551"/>
              <a:buNone/>
              <a:defRPr sz="551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346522" y="383299"/>
            <a:ext cx="4347270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1"/>
          </p:nvPr>
        </p:nvSpPr>
        <p:spPr>
          <a:xfrm rot="5400000">
            <a:off x="236208" y="2026798"/>
            <a:ext cx="4567898" cy="434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 rot="5400000">
            <a:off x="1099841" y="2890431"/>
            <a:ext cx="6101085" cy="108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1"/>
          </p:nvPr>
        </p:nvSpPr>
        <p:spPr>
          <a:xfrm rot="5400000">
            <a:off x="-1105296" y="1835115"/>
            <a:ext cx="6101085" cy="319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46522" y="383299"/>
            <a:ext cx="4347270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5"/>
              <a:buFont typeface="Calibri"/>
              <a:buNone/>
              <a:defRPr sz="24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46522" y="1916484"/>
            <a:ext cx="4347270" cy="456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658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543"/>
              <a:buFont typeface="Arial"/>
              <a:buChar char="•"/>
              <a:defRPr sz="154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2610" algn="l" rtl="0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Char char="•"/>
              <a:defRPr sz="13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577" algn="l" rtl="0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1102"/>
              <a:buFont typeface="Arial"/>
              <a:buChar char="•"/>
              <a:defRPr sz="11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1592" algn="l" rtl="0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992"/>
              <a:buFont typeface="Arial"/>
              <a:buChar char="•"/>
              <a:defRPr sz="9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1592" algn="l" rtl="0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992"/>
              <a:buFont typeface="Arial"/>
              <a:buChar char="•"/>
              <a:defRPr sz="9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1592" algn="l" rtl="0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992"/>
              <a:buFont typeface="Arial"/>
              <a:buChar char="•"/>
              <a:defRPr sz="9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1592" algn="l" rtl="0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992"/>
              <a:buFont typeface="Arial"/>
              <a:buChar char="•"/>
              <a:defRPr sz="9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1591" algn="l" rtl="0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992"/>
              <a:buFont typeface="Arial"/>
              <a:buChar char="•"/>
              <a:defRPr sz="9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1591" algn="l" rtl="0">
              <a:lnSpc>
                <a:spcPct val="90000"/>
              </a:lnSpc>
              <a:spcBef>
                <a:spcPts val="276"/>
              </a:spcBef>
              <a:spcAft>
                <a:spcPts val="0"/>
              </a:spcAft>
              <a:buClr>
                <a:schemeClr val="dk1"/>
              </a:buClr>
              <a:buSzPts val="992"/>
              <a:buFont typeface="Arial"/>
              <a:buChar char="•"/>
              <a:defRPr sz="9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6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4"/>
          <p:cNvGrpSpPr/>
          <p:nvPr/>
        </p:nvGrpSpPr>
        <p:grpSpPr>
          <a:xfrm>
            <a:off x="149726" y="435267"/>
            <a:ext cx="4729307" cy="464216"/>
            <a:chOff x="1347672" y="4762500"/>
            <a:chExt cx="10942472" cy="1790700"/>
          </a:xfrm>
        </p:grpSpPr>
        <p:sp>
          <p:nvSpPr>
            <p:cNvPr id="127" name="Google Shape;127;p4"/>
            <p:cNvSpPr/>
            <p:nvPr/>
          </p:nvSpPr>
          <p:spPr>
            <a:xfrm>
              <a:off x="1353857" y="4762500"/>
              <a:ext cx="10936287" cy="1790700"/>
            </a:xfrm>
            <a:prstGeom prst="rect">
              <a:avLst/>
            </a:prstGeom>
            <a:solidFill>
              <a:srgbClr val="002060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1347672" y="5003573"/>
              <a:ext cx="10942227" cy="1238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75" tIns="6575" rIns="13175" bIns="6575" anchor="t" anchorCtr="0">
              <a:spAutoFit/>
            </a:bodyPr>
            <a:lstStyle/>
            <a:p>
              <a:pPr lvl="1" algn="ctr"/>
              <a:r>
                <a:rPr lang="ko-KR" altLang="en-US" sz="2000" b="1" dirty="0" err="1" smtClean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과제명</a:t>
              </a:r>
              <a:endParaRPr lang="ko-KR" altLang="en-US" sz="2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129;p4">
            <a:extLst>
              <a:ext uri="{FF2B5EF4-FFF2-40B4-BE49-F238E27FC236}">
                <a16:creationId xmlns:a16="http://schemas.microsoft.com/office/drawing/2014/main" id="{439BFDDE-CDA7-45C9-ADA8-7AF7F20B200B}"/>
              </a:ext>
            </a:extLst>
          </p:cNvPr>
          <p:cNvSpPr txBox="1"/>
          <p:nvPr/>
        </p:nvSpPr>
        <p:spPr>
          <a:xfrm>
            <a:off x="143518" y="1923305"/>
            <a:ext cx="4735515" cy="715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▷ 과제 </a:t>
            </a:r>
            <a:r>
              <a:rPr lang="ko-KR" altLang="en-US" sz="9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개발동기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및 필요성</a:t>
            </a:r>
            <a:endParaRPr lang="en-US" altLang="ko-KR" sz="9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▷ 과제 수행 목적</a:t>
            </a:r>
            <a:endParaRPr lang="en-US" sz="9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▷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원리 및 </a:t>
            </a:r>
            <a:r>
              <a:rPr lang="ko-KR" altLang="en-US" sz="9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활용분야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</a:t>
            </a:r>
            <a:endParaRPr lang="ko-KR" altLang="en-US" sz="9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11EA8C25-AA47-4A92-941B-E43797179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007387"/>
              </p:ext>
            </p:extLst>
          </p:nvPr>
        </p:nvGraphicFramePr>
        <p:xfrm>
          <a:off x="192270" y="4506181"/>
          <a:ext cx="2242391" cy="1437993"/>
        </p:xfrm>
        <a:graphic>
          <a:graphicData uri="http://schemas.openxmlformats.org/drawingml/2006/table">
            <a:tbl>
              <a:tblPr/>
              <a:tblGrid>
                <a:gridCol w="2242391">
                  <a:extLst>
                    <a:ext uri="{9D8B030D-6E8A-4147-A177-3AD203B41FA5}">
                      <a16:colId xmlns:a16="http://schemas.microsoft.com/office/drawing/2014/main" val="1169125139"/>
                    </a:ext>
                  </a:extLst>
                </a:gridCol>
              </a:tblGrid>
              <a:tr h="14379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사진 삽입</a:t>
                      </a:r>
                      <a:endParaRPr lang="en-US" altLang="ko-KR" sz="1000" b="0" i="0" u="none" strike="noStrike" cap="non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i="0" u="none" strike="noStrike" cap="non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그림 또는 사진은 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장 이상</a:t>
                      </a:r>
                      <a:endParaRPr lang="ko-KR" altLang="en-US" sz="1000" b="0" i="0" u="none" strike="noStrike" cap="non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8910" marR="48910" marT="13522" marB="13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43273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792" y="80178"/>
            <a:ext cx="724318" cy="25614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523" y="114209"/>
            <a:ext cx="526027" cy="230535"/>
          </a:xfrm>
          <a:prstGeom prst="rect">
            <a:avLst/>
          </a:prstGeom>
        </p:spPr>
      </p:pic>
      <p:sp>
        <p:nvSpPr>
          <p:cNvPr id="29" name="Google Shape;127;p4"/>
          <p:cNvSpPr/>
          <p:nvPr/>
        </p:nvSpPr>
        <p:spPr>
          <a:xfrm>
            <a:off x="145509" y="1437722"/>
            <a:ext cx="4733418" cy="45719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F0C9D2-F1A0-40D1-9F94-5CE9A51D96E3}"/>
              </a:ext>
            </a:extLst>
          </p:cNvPr>
          <p:cNvSpPr/>
          <p:nvPr/>
        </p:nvSpPr>
        <p:spPr>
          <a:xfrm>
            <a:off x="322905" y="996227"/>
            <a:ext cx="587495" cy="1440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/>
                </a:solidFill>
              </a:rPr>
              <a:t>학     과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6711" y="949284"/>
            <a:ext cx="7608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+mn-ea"/>
                <a:ea typeface="+mn-ea"/>
              </a:rPr>
              <a:t>소속학과명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08139" y="1184116"/>
            <a:ext cx="453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+mn-ea"/>
                <a:ea typeface="+mn-ea"/>
              </a:rPr>
              <a:t>팀명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5F0C9D2-F1A0-40D1-9F94-5CE9A51D96E3}"/>
              </a:ext>
            </a:extLst>
          </p:cNvPr>
          <p:cNvSpPr/>
          <p:nvPr/>
        </p:nvSpPr>
        <p:spPr>
          <a:xfrm>
            <a:off x="697607" y="1227167"/>
            <a:ext cx="587495" cy="1440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/>
                </a:solidFill>
              </a:rPr>
              <a:t>팀     </a:t>
            </a:r>
            <a:r>
              <a:rPr lang="ko-KR" altLang="en-US" sz="900" b="1" dirty="0">
                <a:solidFill>
                  <a:schemeClr val="tx1"/>
                </a:solidFill>
              </a:rPr>
              <a:t>명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5F0C9D2-F1A0-40D1-9F94-5CE9A51D96E3}"/>
              </a:ext>
            </a:extLst>
          </p:cNvPr>
          <p:cNvSpPr/>
          <p:nvPr/>
        </p:nvSpPr>
        <p:spPr>
          <a:xfrm>
            <a:off x="1826681" y="996227"/>
            <a:ext cx="643593" cy="1440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/>
                </a:solidFill>
              </a:rPr>
              <a:t>지도교수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478983" y="951101"/>
            <a:ext cx="7608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+mn-ea"/>
                <a:ea typeface="+mn-ea"/>
              </a:rPr>
              <a:t>지도교수명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5F0C9D2-F1A0-40D1-9F94-5CE9A51D96E3}"/>
              </a:ext>
            </a:extLst>
          </p:cNvPr>
          <p:cNvSpPr/>
          <p:nvPr/>
        </p:nvSpPr>
        <p:spPr>
          <a:xfrm>
            <a:off x="2366201" y="1227167"/>
            <a:ext cx="643593" cy="1440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팀 </a:t>
            </a:r>
            <a:r>
              <a:rPr lang="ko-KR" altLang="en-US" sz="900" b="1" dirty="0" smtClean="0">
                <a:solidFill>
                  <a:schemeClr val="tx1"/>
                </a:solidFill>
              </a:rPr>
              <a:t>   원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32775" y="1180886"/>
            <a:ext cx="7608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팀원 이름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5F0C9D2-F1A0-40D1-9F94-5CE9A51D96E3}"/>
              </a:ext>
            </a:extLst>
          </p:cNvPr>
          <p:cNvSpPr/>
          <p:nvPr/>
        </p:nvSpPr>
        <p:spPr>
          <a:xfrm>
            <a:off x="3392632" y="991152"/>
            <a:ext cx="643593" cy="1440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/>
                </a:solidFill>
              </a:rPr>
              <a:t>참여기업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08680" y="951282"/>
            <a:ext cx="7608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+mn-ea"/>
                <a:ea typeface="+mn-ea"/>
              </a:rPr>
              <a:t>참여기업명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F0C9D2-F1A0-40D1-9F94-5CE9A51D96E3}"/>
              </a:ext>
            </a:extLst>
          </p:cNvPr>
          <p:cNvSpPr/>
          <p:nvPr/>
        </p:nvSpPr>
        <p:spPr>
          <a:xfrm>
            <a:off x="164220" y="1648150"/>
            <a:ext cx="948759" cy="2249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</a:rPr>
              <a:t>1. 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과제 개요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11EA8C25-AA47-4A92-941B-E43797179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836881"/>
              </p:ext>
            </p:extLst>
          </p:nvPr>
        </p:nvGraphicFramePr>
        <p:xfrm>
          <a:off x="2583159" y="4500574"/>
          <a:ext cx="2242391" cy="1443600"/>
        </p:xfrm>
        <a:graphic>
          <a:graphicData uri="http://schemas.openxmlformats.org/drawingml/2006/table">
            <a:tbl>
              <a:tblPr/>
              <a:tblGrid>
                <a:gridCol w="2242391">
                  <a:extLst>
                    <a:ext uri="{9D8B030D-6E8A-4147-A177-3AD203B41FA5}">
                      <a16:colId xmlns:a16="http://schemas.microsoft.com/office/drawing/2014/main" val="1169125139"/>
                    </a:ext>
                  </a:extLst>
                </a:gridCol>
              </a:tblGrid>
              <a:tr h="14436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사진 삽입</a:t>
                      </a:r>
                      <a:endParaRPr lang="en-US" altLang="ko-KR" sz="1000" b="0" i="0" u="none" strike="noStrike" cap="non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i="0" u="none" strike="noStrike" cap="non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화면</a:t>
                      </a:r>
                      <a:r>
                        <a:rPr lang="ko-KR" altLang="en-US" sz="1000" b="0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en-US" sz="1000" b="0" i="0" u="none" strike="noStrike" cap="none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캡쳐파일은</a:t>
                      </a:r>
                      <a:r>
                        <a:rPr lang="ko-KR" altLang="en-US" sz="1000" b="0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 첨부 불가</a:t>
                      </a:r>
                      <a:endParaRPr lang="en-US" altLang="ko-KR" sz="1000" b="0" i="0" u="none" strike="noStrike" cap="none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8910" marR="48910" marT="13522" marB="13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43273"/>
                  </a:ext>
                </a:extLst>
              </a:tr>
            </a:tbl>
          </a:graphicData>
        </a:graphic>
      </p:graphicFrame>
      <p:sp>
        <p:nvSpPr>
          <p:cNvPr id="45" name="직사각형 44">
            <a:extLst>
              <a:ext uri="{FF2B5EF4-FFF2-40B4-BE49-F238E27FC236}">
                <a16:creationId xmlns:a16="http://schemas.microsoft.com/office/drawing/2014/main" id="{A5F0C9D2-F1A0-40D1-9F94-5CE9A51D96E3}"/>
              </a:ext>
            </a:extLst>
          </p:cNvPr>
          <p:cNvSpPr/>
          <p:nvPr/>
        </p:nvSpPr>
        <p:spPr>
          <a:xfrm>
            <a:off x="164219" y="2713007"/>
            <a:ext cx="1344821" cy="2249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</a:rPr>
              <a:t>2. 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과제 상세 내용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6" name="Google Shape;129;p4">
            <a:extLst>
              <a:ext uri="{FF2B5EF4-FFF2-40B4-BE49-F238E27FC236}">
                <a16:creationId xmlns:a16="http://schemas.microsoft.com/office/drawing/2014/main" id="{439BFDDE-CDA7-45C9-ADA8-7AF7F20B200B}"/>
              </a:ext>
            </a:extLst>
          </p:cNvPr>
          <p:cNvSpPr txBox="1"/>
          <p:nvPr/>
        </p:nvSpPr>
        <p:spPr>
          <a:xfrm>
            <a:off x="143412" y="2995586"/>
            <a:ext cx="4735515" cy="140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▷ 과제 핵심 내용 및 수행 방법</a:t>
            </a:r>
            <a:endParaRPr lang="en-US" altLang="ko-KR" sz="9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▷ 수행 결과</a:t>
            </a:r>
            <a:endParaRPr lang="en-US" sz="9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▷ </a:t>
            </a:r>
            <a:r>
              <a:rPr lang="ko-KR" altLang="en-US" sz="9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기업연계형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지차체연계형의 경우 참여기업 및 </a:t>
            </a:r>
            <a:r>
              <a:rPr lang="ko-KR" altLang="en-US" sz="9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지차체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명시</a:t>
            </a:r>
            <a:endParaRPr lang="en-US" altLang="ko-KR" sz="9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50000"/>
              </a:lnSpc>
            </a:pPr>
            <a:r>
              <a:rPr lang="ko-KR" altLang="en-US" sz="9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▷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작품에 대한 구체적인 내용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특징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 등 작성</a:t>
            </a:r>
            <a:endParaRPr lang="en-US" altLang="ko-KR" sz="9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50000"/>
              </a:lnSpc>
            </a:pPr>
            <a:r>
              <a:rPr lang="ko-KR" altLang="en-US" sz="9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▷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그래프 등 활용</a:t>
            </a:r>
            <a:endParaRPr lang="en-US" altLang="ko-KR" sz="9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endParaRPr lang="en-US" altLang="ko-KR" sz="9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사진 첨부 시 화면 </a:t>
            </a:r>
            <a:r>
              <a:rPr lang="ko-KR" altLang="en-US" sz="9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캡쳐파일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첨부 불가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별도로 사진 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JPG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파일로 첨부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함께 업로드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lang="en-US" altLang="ko-KR" sz="9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5F0C9D2-F1A0-40D1-9F94-5CE9A51D96E3}"/>
              </a:ext>
            </a:extLst>
          </p:cNvPr>
          <p:cNvSpPr/>
          <p:nvPr/>
        </p:nvSpPr>
        <p:spPr>
          <a:xfrm>
            <a:off x="164219" y="6054722"/>
            <a:ext cx="1602873" cy="2249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</a:rPr>
              <a:t>3. 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기대효과 및 활용방안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8" name="Google Shape;129;p4">
            <a:extLst>
              <a:ext uri="{FF2B5EF4-FFF2-40B4-BE49-F238E27FC236}">
                <a16:creationId xmlns:a16="http://schemas.microsoft.com/office/drawing/2014/main" id="{439BFDDE-CDA7-45C9-ADA8-7AF7F20B200B}"/>
              </a:ext>
            </a:extLst>
          </p:cNvPr>
          <p:cNvSpPr txBox="1"/>
          <p:nvPr/>
        </p:nvSpPr>
        <p:spPr>
          <a:xfrm>
            <a:off x="143411" y="6321773"/>
            <a:ext cx="4735515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▷ 작성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맑은 고딕체 사용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글자크기 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22~24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포인트</a:t>
            </a:r>
            <a:endParaRPr lang="en-US" altLang="ko-KR" sz="9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▷ 과제 수행 결과를 통한 기대효과</a:t>
            </a:r>
            <a:r>
              <a:rPr lang="en-US" altLang="ko-KR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특허 등 </a:t>
            </a:r>
            <a:r>
              <a:rPr lang="ko-KR" altLang="en-US" sz="9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결과본</a:t>
            </a:r>
            <a:r>
              <a:rPr lang="ko-KR" altLang="en-US" sz="9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활용방안</a:t>
            </a:r>
            <a:endParaRPr lang="en-US" sz="9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1943" y="84925"/>
            <a:ext cx="3137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latin typeface="+mn-ea"/>
                <a:ea typeface="+mn-ea"/>
              </a:rPr>
              <a:t>2025</a:t>
            </a:r>
            <a:r>
              <a:rPr lang="ko-KR" altLang="en-US" sz="1000" b="1" dirty="0" smtClean="0">
                <a:latin typeface="+mn-ea"/>
                <a:ea typeface="+mn-ea"/>
              </a:rPr>
              <a:t>학년도 </a:t>
            </a:r>
            <a:r>
              <a:rPr lang="en-US" altLang="ko-KR" sz="1000" b="1" dirty="0" smtClean="0">
                <a:latin typeface="+mn-ea"/>
                <a:ea typeface="+mn-ea"/>
              </a:rPr>
              <a:t>2</a:t>
            </a:r>
            <a:r>
              <a:rPr lang="ko-KR" altLang="en-US" sz="1000" b="1" dirty="0" smtClean="0">
                <a:latin typeface="+mn-ea"/>
                <a:ea typeface="+mn-ea"/>
              </a:rPr>
              <a:t>학기 캡스톤디자인 교과목 </a:t>
            </a:r>
            <a:r>
              <a:rPr lang="ko-KR" altLang="en-US" sz="1000" b="1" dirty="0">
                <a:latin typeface="+mn-ea"/>
                <a:ea typeface="+mn-ea"/>
              </a:rPr>
              <a:t>지</a:t>
            </a:r>
            <a:r>
              <a:rPr lang="ko-KR" altLang="en-US" sz="1000" b="1" dirty="0" smtClean="0">
                <a:latin typeface="+mn-ea"/>
                <a:ea typeface="+mn-ea"/>
              </a:rPr>
              <a:t>원사업</a:t>
            </a:r>
            <a:endParaRPr lang="ko-KR" altLang="en-US" sz="1000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139</Words>
  <Application>Microsoft Office PowerPoint</Application>
  <PresentationFormat>사용자 지정</PresentationFormat>
  <Paragraphs>33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맑은 고딕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노경미</dc:creator>
  <cp:lastModifiedBy>Windows 사용자</cp:lastModifiedBy>
  <cp:revision>26</cp:revision>
  <dcterms:created xsi:type="dcterms:W3CDTF">2014-07-06T03:39:39Z</dcterms:created>
  <dcterms:modified xsi:type="dcterms:W3CDTF">2025-09-19T08:08:46Z</dcterms:modified>
</cp:coreProperties>
</file>